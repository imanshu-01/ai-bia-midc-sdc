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3" r:id="rId3"/>
    <p:sldId id="257" r:id="rId4"/>
    <p:sldId id="258" r:id="rId5"/>
    <p:sldId id="259" r:id="rId6"/>
    <p:sldId id="260" r:id="rId7"/>
    <p:sldId id="272" r:id="rId8"/>
    <p:sldId id="261" r:id="rId9"/>
    <p:sldId id="274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8E375B-BE75-8BD9-EE3E-00AD10283F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80C4EF-A2AE-1060-A926-57F8747B08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7B8BF8-FD16-A945-4043-70C0F2B04A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34E295-BAD1-4773-A8BE-B611AA96924E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7420B1-0A84-A5B5-C6F3-DB0FC1346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9E4506-B3DA-3E09-A956-90683EAFA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CF6F15-69F4-4B56-B678-AA37C7961F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86590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FE9DDC-54D0-72EC-2FE5-EEB80957B5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4A4DE9-01D9-33EF-5EC0-ED8F169693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924408-F416-6897-D1BB-FB377DFF4F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34E295-BAD1-4773-A8BE-B611AA96924E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FADFA9-7078-1A4A-BF9E-9210EF3BD8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F0B89D-7446-27E6-11F5-05CD6CB9AB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CF6F15-69F4-4B56-B678-AA37C7961F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46083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7980D0-26BE-582F-D3B2-BCFFDAB19B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746143-DFBE-B679-23E7-527C2F58B2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5DDCCA-32C8-ACAA-040A-683DD2A351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34E295-BAD1-4773-A8BE-B611AA96924E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A6A3DE-F62E-9DD6-1D41-BEE26BA30A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518E65-ACF8-96B4-B8EC-C442141C58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CF6F15-69F4-4B56-B678-AA37C7961F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16562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60432F-3497-C11C-BCA6-926355AF0E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630EF4-F784-8B11-CC8E-6C8FBFE53C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D4D9F1-9223-6173-1526-68AD8D29B8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AE146A-CD8F-201B-8B1A-5A30D27B30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34E295-BAD1-4773-A8BE-B611AA96924E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966737-7736-700C-7EF2-65BBB2D3CF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9D2933-A270-64EB-EB7A-A168268513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CF6F15-69F4-4B56-B678-AA37C7961F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28821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58F6F9-EA8B-F595-B52B-BB9AFDC4A2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22AEC4-9AAA-7F71-CDFC-FE6AF2C205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D6C5E9-64CA-113E-B819-B92452AE8E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690CE28-F150-05DA-D9F7-C0CE1C9EAD3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4CA0AD8-5DE4-173E-739A-C42F89AB60F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DAA37FD-57C7-DB7C-C626-C398688A1A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34E295-BAD1-4773-A8BE-B611AA96924E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6E0429F-89DB-F796-2D7F-320B255F36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0806343-F7AC-48E7-2643-74128024F4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CF6F15-69F4-4B56-B678-AA37C7961F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60875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C54E5-841C-4FD9-48F7-B428459EB4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D3FAA53-8F61-3189-04D5-4F5C886962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34E295-BAD1-4773-A8BE-B611AA96924E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5F5FF31-5769-54FF-B503-BA625F6C50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77C2CC-0F21-D0B9-4116-7C6C8488A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CF6F15-69F4-4B56-B678-AA37C7961F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78291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C25B454-ABF9-76C0-741B-3E364612E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34E295-BAD1-4773-A8BE-B611AA96924E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9556E24-AEBE-09DD-B56E-7EAC4BC3B1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E7893C-1060-2F29-906E-B0183CA7C8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CF6F15-69F4-4B56-B678-AA37C7961F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36276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71EAC-1D5D-3AC1-0966-30948473F2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3B990D-B858-0023-2AAE-79C9225394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54AF0A-8391-2085-BEAB-BAC63CF6D6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1BF26A-502F-8E95-D4EC-43D105055A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34E295-BAD1-4773-A8BE-B611AA96924E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2493D3-A5E2-5901-6CFD-E14C5C1736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7797DE-CC4C-C7C2-59A4-D5760CFA02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CF6F15-69F4-4B56-B678-AA37C7961F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94267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A0497B-2EEA-FEDB-D934-090A9D7775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F62E4D5-312F-D611-04C2-D686A4ECD0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E9BC6C-7387-6545-12E6-E241B882C0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8CC8B0-ED97-888D-214A-3F1FB760FD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34E295-BAD1-4773-A8BE-B611AA96924E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1D06BD-9880-7FBB-5A06-5CCCB70AD6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E0A172-3D64-E866-8CF5-1C09591740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CF6F15-69F4-4B56-B678-AA37C7961F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99469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EF0C4-6781-9FCB-7980-0C8C4F0D55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1DB94C-5184-A874-9C66-FB90BC7C47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39F76E-9647-32FF-483E-09D7F413B5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34E295-BAD1-4773-A8BE-B611AA96924E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EBA2C8-E7B9-0B84-C341-26B2025FC7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03CE01-3E74-A192-0756-97AD31D92E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CF6F15-69F4-4B56-B678-AA37C7961F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21700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0E6800A-0D66-5254-8F5A-6123ABA417E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7B74B42-5660-7219-7F94-EA488B0218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11F6B4-A1C9-6BFE-DDE9-A49177BB93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34E295-BAD1-4773-A8BE-B611AA96924E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A73A45-38FB-0B1D-8782-C2C4E0A4A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5F4FE9-D889-5249-E6E5-5B0C8BDE31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CF6F15-69F4-4B56-B678-AA37C7961F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39616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DFED098-F021-F34B-B76C-8D5A4BACF8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447E99-E6FB-CBEF-07CB-77667C0C22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349F97-53B4-DA0F-FCBC-3A275B25552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034E295-BAD1-4773-A8BE-B611AA96924E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A60200-3565-39CE-3878-915C339675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97CC90-CF54-C017-8B1E-AEB6943CDA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CF6F15-69F4-4B56-B678-AA37C7961F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21632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5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2057" name="Rectangle 2056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27D7B1D-D189-EFA0-5205-5F33A0CD3D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5944" y="350196"/>
            <a:ext cx="5671456" cy="162452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AI &amp; Big Data Analytics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B8292B-9469-8C67-47DE-3DE1B837E6C6}"/>
              </a:ext>
            </a:extLst>
          </p:cNvPr>
          <p:cNvSpPr txBox="1"/>
          <p:nvPr/>
        </p:nvSpPr>
        <p:spPr>
          <a:xfrm>
            <a:off x="0" y="2743201"/>
            <a:ext cx="5867400" cy="2286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 algn="just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Artificial Intelligence (AI)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the field of computer science that focuses on creating machines and software that can perform tasks that normally require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human intelligence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2050" name="Picture 2" descr="Introduction to AI in Project Management">
            <a:extLst>
              <a:ext uri="{FF2B5EF4-FFF2-40B4-BE49-F238E27FC236}">
                <a16:creationId xmlns:a16="http://schemas.microsoft.com/office/drawing/2014/main" id="{03C5DCCD-D956-F033-B169-4EE823E794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8" r="10443"/>
          <a:stretch>
            <a:fillRect/>
          </a:stretch>
        </p:blipFill>
        <p:spPr bwMode="auto">
          <a:xfrm>
            <a:off x="6096000" y="1"/>
            <a:ext cx="610282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554191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650C5DD-200C-5295-F5BA-A7637FE73898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0" y="639082"/>
            <a:ext cx="10515600" cy="43513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tasks include:</a:t>
            </a:r>
          </a:p>
          <a:p>
            <a:pPr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Learning from experience (machine learning)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Understanding language (natural language processing)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Recognizing patterns and objects (computer vision)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Making decisions (planning, reasoning)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Interacting with the environment (robotics)</a:t>
            </a:r>
          </a:p>
        </p:txBody>
      </p:sp>
    </p:spTree>
    <p:extLst>
      <p:ext uri="{BB962C8B-B14F-4D97-AF65-F5344CB8AC3E}">
        <p14:creationId xmlns:p14="http://schemas.microsoft.com/office/powerpoint/2010/main" val="17577522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BE37984-81FF-567A-2DAE-7F8DF8E6AE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6572" y="962795"/>
            <a:ext cx="4212770" cy="88161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000" b="1" kern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Applications of AI</a:t>
            </a:r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6357EC4F-235E-4222-A36F-C7878ACE37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5BCC1FD-42A6-6E10-7DB8-A6FA72BC97E8}"/>
              </a:ext>
            </a:extLst>
          </p:cNvPr>
          <p:cNvSpPr txBox="1"/>
          <p:nvPr/>
        </p:nvSpPr>
        <p:spPr>
          <a:xfrm>
            <a:off x="630936" y="2807208"/>
            <a:ext cx="3429000" cy="341071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Natural Language processing(NLP)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 Vision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Healthcare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Finance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Robotics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Gaming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Marketing and Advertising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Education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0A6C16D-EA08-BD21-2168-F08B82C092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4295" y="1625403"/>
            <a:ext cx="7124047" cy="3951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50697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DE9E9CD-E410-843F-45C1-8AC294F9C4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 of AI</a:t>
            </a:r>
          </a:p>
        </p:txBody>
      </p:sp>
      <p:sp>
        <p:nvSpPr>
          <p:cNvPr id="19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ECB766-47CD-E172-284A-3C771D77AC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7908" y="2580894"/>
            <a:ext cx="4818888" cy="3547872"/>
          </a:xfrm>
        </p:spPr>
        <p:txBody>
          <a:bodyPr anchor="t">
            <a:normAutofit/>
          </a:bodyPr>
          <a:lstStyle/>
          <a:p>
            <a:pPr marL="514350" indent="-514350">
              <a:buAutoNum type="arabicPeriod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Narrow AI (Weak AI) 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Specialized in one task (e.g., Siri, Google Maps, ChatGPT).</a:t>
            </a:r>
          </a:p>
          <a:p>
            <a:pPr marL="0" indent="0">
              <a:buNone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General AI (Strong AI)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perform any intellectual task a human can (still theoretical).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2200" dirty="0"/>
          </a:p>
        </p:txBody>
      </p:sp>
      <p:pic>
        <p:nvPicPr>
          <p:cNvPr id="4" name="Picture 3" descr="A comparison of a diagram&#10;&#10;AI-generated content may be incorrect.">
            <a:extLst>
              <a:ext uri="{FF2B5EF4-FFF2-40B4-BE49-F238E27FC236}">
                <a16:creationId xmlns:a16="http://schemas.microsoft.com/office/drawing/2014/main" id="{3268FB1C-4A35-5227-6C39-4B4B2BBE56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9048" y="1309636"/>
            <a:ext cx="5458968" cy="4238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37253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4F63BB-96E2-341D-2C04-90C3441EA6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pPr algn="ctr"/>
            <a:r>
              <a:rPr lang="en-IN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Bigdata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03E983-8FDD-BE0C-17D3-2A2694B9DA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4530898" cy="3639450"/>
          </a:xfrm>
        </p:spPr>
        <p:txBody>
          <a:bodyPr anchor="ctr">
            <a:noAutofit/>
          </a:bodyPr>
          <a:lstStyle/>
          <a:p>
            <a:pPr marL="0" indent="0">
              <a:buNone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Big Data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refers to extremely large and complex datasets that are difficult or impossible to manage, process, or analyze using traditional data processing tools. </a:t>
            </a:r>
          </a:p>
          <a:p>
            <a:pPr marL="0" indent="0">
              <a:buNone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 of Big Data</a:t>
            </a:r>
          </a:p>
          <a:p>
            <a:pPr marL="514350" indent="-514350">
              <a:buAutoNum type="arabicPeriod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Structured Data</a:t>
            </a:r>
          </a:p>
          <a:p>
            <a:pPr marL="514350" indent="-514350">
              <a:buAutoNum type="arabicPeriod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Unstructured Data</a:t>
            </a:r>
          </a:p>
          <a:p>
            <a:pPr marL="514350" indent="-514350">
              <a:buAutoNum type="arabicPeriod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Semi-structured Data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0381B2D-663F-F8E4-2DCC-6FE9820B7F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1532" y="2899299"/>
            <a:ext cx="5150277" cy="2884155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70347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2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184CC0-CB45-BA88-1F15-EA5DE7ACCA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5V’ s of Big Data</a:t>
            </a:r>
          </a:p>
        </p:txBody>
      </p:sp>
      <p:pic>
        <p:nvPicPr>
          <p:cNvPr id="1026" name="Picture 2" descr="The Essence of 5 V's in Big Data">
            <a:extLst>
              <a:ext uri="{FF2B5EF4-FFF2-40B4-BE49-F238E27FC236}">
                <a16:creationId xmlns:a16="http://schemas.microsoft.com/office/drawing/2014/main" id="{604B90AB-7B12-2E84-E158-30F70552D5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269390" y="643466"/>
            <a:ext cx="5796551" cy="55687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041321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CF4D62-7E98-AA5A-EBCD-57C8F78D81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8457" y="486681"/>
            <a:ext cx="10515600" cy="5326289"/>
          </a:xfrm>
        </p:spPr>
        <p:txBody>
          <a:bodyPr>
            <a:normAutofit/>
          </a:bodyPr>
          <a:lstStyle/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Volume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Massive amounts of data (terabytes, petabytes, exabytes).                   </a:t>
            </a:r>
          </a:p>
          <a:p>
            <a:pPr marL="0" lvl="0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Velocity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Data is generated and processed at high speed (e.g., real-time data).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Variety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Different types of data: structured (databases), semi-structured (XML,    JSON), and unstructured (videos, images, texts).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Veracity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Refers to the quality or reliability of the data.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Variability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To handle the variations in data volume and velocity, systems must be adaptable and expandable.</a:t>
            </a:r>
            <a:endParaRPr lang="en-US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311513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4F7EBAE4-9945-4473-9E34-B2C66EA0F0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84B6E93-E94B-C905-23D6-61427358AB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393361" cy="1325563"/>
          </a:xfrm>
        </p:spPr>
        <p:txBody>
          <a:bodyPr>
            <a:norm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Big Data Analytics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0438FF-724A-DF2E-043F-104EDAD837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393361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Big Data Analytics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the process of examining large and complex datasets—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big data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—to uncover 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patterns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trends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correlations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insights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can help organizations make better decisions, predict outcomes, and optimize performance.</a:t>
            </a:r>
          </a:p>
          <a:p>
            <a:pPr marL="0" indent="0">
              <a:buNone/>
            </a:pP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b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3F408EC-2C45-0628-6702-D93E78B6BEF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752" r="-2" b="509"/>
          <a:stretch>
            <a:fillRect/>
          </a:stretch>
        </p:blipFill>
        <p:spPr>
          <a:xfrm>
            <a:off x="6374920" y="758514"/>
            <a:ext cx="5122238" cy="5122238"/>
          </a:xfrm>
          <a:custGeom>
            <a:avLst/>
            <a:gdLst/>
            <a:ahLst/>
            <a:cxnLst/>
            <a:rect l="l" t="t" r="r" b="b"/>
            <a:pathLst>
              <a:path w="2663168" h="2663168">
                <a:moveTo>
                  <a:pt x="1331584" y="0"/>
                </a:moveTo>
                <a:cubicBezTo>
                  <a:pt x="2066998" y="0"/>
                  <a:pt x="2663168" y="596170"/>
                  <a:pt x="2663168" y="1331584"/>
                </a:cubicBezTo>
                <a:cubicBezTo>
                  <a:pt x="2663168" y="2066998"/>
                  <a:pt x="2066998" y="2663168"/>
                  <a:pt x="1331584" y="2663168"/>
                </a:cubicBezTo>
                <a:cubicBezTo>
                  <a:pt x="596170" y="2663168"/>
                  <a:pt x="0" y="2066998"/>
                  <a:pt x="0" y="1331584"/>
                </a:cubicBezTo>
                <a:cubicBezTo>
                  <a:pt x="0" y="596170"/>
                  <a:pt x="596170" y="0"/>
                  <a:pt x="1331584" y="0"/>
                </a:cubicBezTo>
                <a:close/>
              </a:path>
            </a:pathLst>
          </a:custGeom>
        </p:spPr>
      </p:pic>
      <p:sp>
        <p:nvSpPr>
          <p:cNvPr id="20" name="!!Arc">
            <a:extLst>
              <a:ext uri="{FF2B5EF4-FFF2-40B4-BE49-F238E27FC236}">
                <a16:creationId xmlns:a16="http://schemas.microsoft.com/office/drawing/2014/main" id="{70BEB1E7-2F88-40BC-B73D-42E5B6F80B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1189197" flipV="1">
            <a:off x="6261882" y="687822"/>
            <a:ext cx="5471147" cy="5471147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>
                <a:alpha val="9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!!Oval">
            <a:extLst>
              <a:ext uri="{FF2B5EF4-FFF2-40B4-BE49-F238E27FC236}">
                <a16:creationId xmlns:a16="http://schemas.microsoft.com/office/drawing/2014/main" id="{A7B99495-F43F-4D80-A44F-2CB4764EB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48561" y="921125"/>
            <a:ext cx="791021" cy="76956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745075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58D7C6F-76C8-87FD-7CCF-E15AB3CB0195}"/>
              </a:ext>
            </a:extLst>
          </p:cNvPr>
          <p:cNvSpPr txBox="1"/>
          <p:nvPr/>
        </p:nvSpPr>
        <p:spPr>
          <a:xfrm>
            <a:off x="1164770" y="375553"/>
            <a:ext cx="9779153" cy="5170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Big Data Analytics Process</a:t>
            </a:r>
          </a:p>
          <a:p>
            <a:pPr marL="457200" indent="-457200">
              <a:lnSpc>
                <a:spcPct val="100000"/>
              </a:lnSpc>
              <a:buAutoNum type="arabicPeriod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Collection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From sources like sensors, logs, social media</a:t>
            </a:r>
          </a:p>
          <a:p>
            <a:pPr marL="457200" indent="-457200">
              <a:lnSpc>
                <a:spcPct val="100000"/>
              </a:lnSpc>
              <a:buAutoNum type="arabicPeriod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Storage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Using distributed file systems or cloud storage</a:t>
            </a:r>
          </a:p>
          <a:p>
            <a:pPr marL="457200" indent="-457200">
              <a:lnSpc>
                <a:spcPct val="100000"/>
              </a:lnSpc>
              <a:buAutoNum type="arabicPeriod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 and Preprocessing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Cleaning, transforming, and organizing</a:t>
            </a:r>
          </a:p>
          <a:p>
            <a:pPr marL="457200" indent="-457200">
              <a:lnSpc>
                <a:spcPct val="100000"/>
              </a:lnSpc>
              <a:buAutoNum type="arabicPeriod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Analysis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Using algorithms and models to find insights</a:t>
            </a:r>
          </a:p>
          <a:p>
            <a:pPr marL="457200" indent="-457200">
              <a:lnSpc>
                <a:spcPct val="100000"/>
              </a:lnSpc>
              <a:buAutoNum type="arabicPeriod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Interpretation and Visualization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Presenting insights in charts, graphs, dashboards</a:t>
            </a:r>
          </a:p>
          <a:p>
            <a:pPr marL="457200" indent="-457200">
              <a:lnSpc>
                <a:spcPct val="100000"/>
              </a:lnSpc>
              <a:buAutoNum type="arabicPeriod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 Making and Action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Acting on the insights generated</a:t>
            </a:r>
          </a:p>
          <a:p>
            <a:pPr marL="457200" indent="-457200">
              <a:lnSpc>
                <a:spcPct val="100000"/>
              </a:lnSpc>
              <a:buAutoNum type="arabicPeriod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Predictive Analytics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Looking past data and patterns indicate future trends, behaviors and results.</a:t>
            </a:r>
          </a:p>
        </p:txBody>
      </p:sp>
    </p:spTree>
    <p:extLst>
      <p:ext uri="{BB962C8B-B14F-4D97-AF65-F5344CB8AC3E}">
        <p14:creationId xmlns:p14="http://schemas.microsoft.com/office/powerpoint/2010/main" val="29316960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93E172-1FA0-321D-77A8-3EE074CF85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Relevance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AI and Big Data Analytics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178B1A-9E73-FEF4-9979-75BABB63A0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Enhanced Decision Making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Healthcare Advancements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Efficiency and  Productivity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Environmental Monitoring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Education And Access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Social Impact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055596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E3CB1B-F554-E9C7-BD81-68E8C97A4E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Relevance of  Big Data Analytics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A797DF-94B8-E0BE-0A7B-FFB55A5587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Healthcare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Agriculture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Financial Inclusion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Cities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E-commerce and retail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Education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Governance and Public Services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Manufacturing and Logistics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Telecommunications</a:t>
            </a:r>
          </a:p>
        </p:txBody>
      </p:sp>
    </p:spTree>
    <p:extLst>
      <p:ext uri="{BB962C8B-B14F-4D97-AF65-F5344CB8AC3E}">
        <p14:creationId xmlns:p14="http://schemas.microsoft.com/office/powerpoint/2010/main" val="17900648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A27FB8-7248-F40E-D6E0-7C2AD101E0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AI Concepts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FF36E2-06C0-8349-4347-10AA434B7A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General AI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"General AI" (short for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Artificial General Intelligence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or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refers to a type of AI that can perform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any intellectual task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a human being can do. 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Human-like intelligence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AGI would be able to reason, learn, and adapt across a wide range of domains, just like a human.</a:t>
            </a:r>
          </a:p>
          <a:p>
            <a:pPr marL="0" indent="0">
              <a:buNone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e.g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Speech Recognition, Image Recognition, Recommendation Systems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85725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6F5580-7AD1-9FEC-A0FE-83B077AB91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Characteristics of General AI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E58544-A565-B725-96E0-CBE48E87A1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Versatility: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Capable of performing variety of intellectual tasks and learning new tasks without additional programming.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Adaptability: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Able to transfer learning from one domain (e.g., math) to another (e.g., language or motor skills) without retraining.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Autonomy: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Ability to make decisions independently, based on its understanding and reasoning capabilities.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Human-like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Cognitive Abilities: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Able to transfer learning from one domain (e.g., math) to another (e.g., language or motor skills) without retraining.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90839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D37893-8231-E1A4-1FDA-774A14B08C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General AI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E8E007-8074-F4D9-19CC-18E5E05C86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Versatility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Efficiency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Innovation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Personalisation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 Making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Safety</a:t>
            </a:r>
          </a:p>
        </p:txBody>
      </p:sp>
    </p:spTree>
    <p:extLst>
      <p:ext uri="{BB962C8B-B14F-4D97-AF65-F5344CB8AC3E}">
        <p14:creationId xmlns:p14="http://schemas.microsoft.com/office/powerpoint/2010/main" val="23637014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D8D759-2892-D369-862E-4C5EE2CB05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Disadvantages of General AI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F91568-9C50-6140-72D4-DC9EAD2776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Ethical Concerns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Risks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Dependency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Unintended Consequences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Resource Inequality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Existential Risks</a:t>
            </a:r>
          </a:p>
        </p:txBody>
      </p:sp>
    </p:spTree>
    <p:extLst>
      <p:ext uri="{BB962C8B-B14F-4D97-AF65-F5344CB8AC3E}">
        <p14:creationId xmlns:p14="http://schemas.microsoft.com/office/powerpoint/2010/main" val="42245034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7C823F-0EA2-DAE5-A9E9-F7FB640DD6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Narrow AI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9DB08D-7969-2A84-9592-5D0597C6D8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9939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Narrow AI also referred to as weak AI. It trained and developed for a limited set of tasks or a particular task.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Unlike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General AI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which aims to replicate human-like intelligence across a broad range of functions, narrow AI focuses on excelling in one domain only.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33832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7F52C9-B633-5756-2E59-83AE4BB755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Characteristics of Narrow AI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F4FB3B-F1E4-7347-DA02-A48F46C983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Task-Specific: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perform only the task it was trained for (e.g., image recognition, language translation, playing chess).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Focused expertise: These AI systems excel in a single field but are unable to transfer their knowledge or abilities to other field.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Narrow Scope: They operate within well-defined boundaries and cannot adapt beyond their programmed capabilities. For a speech recognition AI system works on the trained language and will struggle for other language.</a:t>
            </a:r>
          </a:p>
        </p:txBody>
      </p:sp>
    </p:spTree>
    <p:extLst>
      <p:ext uri="{BB962C8B-B14F-4D97-AF65-F5344CB8AC3E}">
        <p14:creationId xmlns:p14="http://schemas.microsoft.com/office/powerpoint/2010/main" val="26219952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5B99A9-C1B7-F304-F138-E8448487C1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Narrow AI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7FD1CC-725F-2089-44BC-E05A182C3E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Efficiency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Cost-Effective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Rapid Deployment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Decision Making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Enhanced User Experience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Safety and Reliability</a:t>
            </a:r>
          </a:p>
        </p:txBody>
      </p:sp>
    </p:spTree>
    <p:extLst>
      <p:ext uri="{BB962C8B-B14F-4D97-AF65-F5344CB8AC3E}">
        <p14:creationId xmlns:p14="http://schemas.microsoft.com/office/powerpoint/2010/main" val="28128874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4FE865-BF4D-8370-98AC-C42F568E7B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Disadvantages of Narrow AI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9D6854-489B-910D-139C-14CC5D2DEB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Scope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Dependency on Data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Flexibility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Ethical Concerns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 Challenges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Scalability Issues</a:t>
            </a:r>
          </a:p>
        </p:txBody>
      </p:sp>
    </p:spTree>
    <p:extLst>
      <p:ext uri="{BB962C8B-B14F-4D97-AF65-F5344CB8AC3E}">
        <p14:creationId xmlns:p14="http://schemas.microsoft.com/office/powerpoint/2010/main" val="37925435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3312</TotalTime>
  <Words>834</Words>
  <Application>Microsoft Office PowerPoint</Application>
  <PresentationFormat>Widescreen</PresentationFormat>
  <Paragraphs>112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Aptos</vt:lpstr>
      <vt:lpstr>Aptos Display</vt:lpstr>
      <vt:lpstr>Arial</vt:lpstr>
      <vt:lpstr>Calibri</vt:lpstr>
      <vt:lpstr>Times New Roman</vt:lpstr>
      <vt:lpstr>Office Theme</vt:lpstr>
      <vt:lpstr>Introduction to AI &amp; Big Data Analytics</vt:lpstr>
      <vt:lpstr>PowerPoint Presentation</vt:lpstr>
      <vt:lpstr>Applications of AI</vt:lpstr>
      <vt:lpstr>Types of AI</vt:lpstr>
      <vt:lpstr>Bigdata</vt:lpstr>
      <vt:lpstr>5V’ s of Big Data</vt:lpstr>
      <vt:lpstr>PowerPoint Presentation</vt:lpstr>
      <vt:lpstr>Big Data Analytics </vt:lpstr>
      <vt:lpstr>PowerPoint Presentation</vt:lpstr>
      <vt:lpstr>Relevance of AI and Big Data Analytics</vt:lpstr>
      <vt:lpstr>Relevance of  Big Data Analytics</vt:lpstr>
      <vt:lpstr>Understanding AI Concepts</vt:lpstr>
      <vt:lpstr>Characteristics of General AI</vt:lpstr>
      <vt:lpstr>Advantages of General AI</vt:lpstr>
      <vt:lpstr>Disadvantages of General AI</vt:lpstr>
      <vt:lpstr>Narrow AI</vt:lpstr>
      <vt:lpstr>Characteristics of Narrow AI</vt:lpstr>
      <vt:lpstr>Advantages of Narrow AI</vt:lpstr>
      <vt:lpstr>Disadvantages of Narrow AI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Samrat Undirwade</dc:creator>
  <cp:lastModifiedBy>Trupti Anant Bidwai</cp:lastModifiedBy>
  <cp:revision>10</cp:revision>
  <dcterms:created xsi:type="dcterms:W3CDTF">2025-10-04T06:13:09Z</dcterms:created>
  <dcterms:modified xsi:type="dcterms:W3CDTF">2025-11-11T10:12:12Z</dcterms:modified>
</cp:coreProperties>
</file>